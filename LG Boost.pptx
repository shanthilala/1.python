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9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LightGBM</a:t>
            </a:r>
            <a:r>
              <a:rPr lang="en-US" b="1" dirty="0"/>
              <a:t> (Light Gradient Boosting Machine) – Regression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LightGBM</a:t>
            </a:r>
            <a:r>
              <a:rPr lang="en-US" dirty="0"/>
              <a:t> is a boosting algorithm that builds models step by step, where each new model learns and corrects the errors (residuals) of previous models, using a faster and more efficient tree 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AdaBoost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Train the first model and make predictions </a:t>
            </a:r>
          </a:p>
          <a:p>
            <a:r>
              <a:rPr lang="en-US" sz="2400" dirty="0"/>
              <a:t>Calculate error (Residual = Actual − Predicted) </a:t>
            </a:r>
          </a:p>
          <a:p>
            <a:r>
              <a:rPr lang="en-US" sz="2400" dirty="0"/>
              <a:t>Identify where the largest errors occur </a:t>
            </a:r>
          </a:p>
          <a:p>
            <a:r>
              <a:rPr lang="en-US" sz="2400" dirty="0"/>
              <a:t>Grow trees by focusing on those large errors </a:t>
            </a:r>
          </a:p>
          <a:p>
            <a:r>
              <a:rPr lang="en-US" sz="2400" dirty="0"/>
              <a:t>Train the next model to reduce these errors </a:t>
            </a:r>
          </a:p>
          <a:p>
            <a:r>
              <a:rPr lang="en-US" sz="2400" dirty="0"/>
              <a:t>Repeat the process multiple times </a:t>
            </a:r>
          </a:p>
          <a:p>
            <a:r>
              <a:rPr lang="en-US" sz="2400" dirty="0"/>
              <a:t>Final prediction = sum of all models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Key idea:</a:t>
            </a:r>
            <a:br>
              <a:rPr lang="en-US" sz="2400" dirty="0"/>
            </a:br>
            <a:r>
              <a:rPr lang="en-US" sz="2400" dirty="0" err="1"/>
              <a:t>LightGBM</a:t>
            </a:r>
            <a:r>
              <a:rPr lang="en-US" sz="2400" dirty="0"/>
              <a:t> focuses on </a:t>
            </a:r>
            <a:r>
              <a:rPr lang="en-US" sz="2400" b="1" dirty="0"/>
              <a:t>largest errors first</a:t>
            </a:r>
            <a:r>
              <a:rPr lang="en-US" sz="2400" dirty="0"/>
              <a:t> and improves prediction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4691"/>
            <a:ext cx="8229600" cy="758536"/>
          </a:xfrm>
        </p:spPr>
        <p:txBody>
          <a:bodyPr>
            <a:normAutofit fontScale="90000"/>
          </a:bodyPr>
          <a:lstStyle/>
          <a:p>
            <a:r>
              <a:rPr dirty="0"/>
              <a:t>Example (</a:t>
            </a:r>
            <a:r>
              <a:rPr lang="en-SG" dirty="0"/>
              <a:t>Predicting Product Sales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1828"/>
            <a:ext cx="8229600" cy="5471534"/>
          </a:xfrm>
        </p:spPr>
        <p:txBody>
          <a:bodyPr>
            <a:normAutofit fontScale="77500" lnSpcReduction="20000"/>
          </a:bodyPr>
          <a:lstStyle/>
          <a:p>
            <a:r>
              <a:rPr lang="en-SG" b="1" dirty="0"/>
              <a:t>Actual values:</a:t>
            </a:r>
          </a:p>
          <a:p>
            <a:pPr marL="400050" lvl="1" indent="0">
              <a:buNone/>
            </a:pPr>
            <a:r>
              <a:rPr lang="en-SG" dirty="0"/>
              <a:t>Product A = 500</a:t>
            </a:r>
            <a:br>
              <a:rPr lang="en-SG" dirty="0"/>
            </a:br>
            <a:r>
              <a:rPr lang="en-SG" dirty="0"/>
              <a:t>Product B = 700</a:t>
            </a:r>
            <a:br>
              <a:rPr lang="en-SG" dirty="0"/>
            </a:br>
            <a:r>
              <a:rPr lang="en-SG" dirty="0"/>
              <a:t>Product C = 650</a:t>
            </a:r>
          </a:p>
          <a:p>
            <a:r>
              <a:rPr lang="en-SG" b="1" dirty="0"/>
              <a:t>Model 1 prediction:</a:t>
            </a:r>
          </a:p>
          <a:p>
            <a:pPr marL="400050" lvl="1" indent="0">
              <a:buNone/>
            </a:pPr>
            <a:r>
              <a:rPr lang="en-SG" dirty="0"/>
              <a:t>450, 620, 600</a:t>
            </a:r>
          </a:p>
          <a:p>
            <a:r>
              <a:rPr lang="en-SG" b="1" dirty="0"/>
              <a:t>Residual (error):</a:t>
            </a:r>
          </a:p>
          <a:p>
            <a:pPr marL="400050" lvl="1" indent="0">
              <a:buNone/>
            </a:pPr>
            <a:r>
              <a:rPr lang="en-SG" dirty="0"/>
              <a:t>+50, +80, +50</a:t>
            </a:r>
          </a:p>
          <a:p>
            <a:pPr marL="400050" lvl="1" indent="0">
              <a:buNone/>
            </a:pPr>
            <a:r>
              <a:rPr lang="en-SG" dirty="0"/>
              <a:t>👉 Largest error is </a:t>
            </a:r>
            <a:r>
              <a:rPr lang="en-SG" b="1" dirty="0"/>
              <a:t>Product B (80)</a:t>
            </a:r>
            <a:endParaRPr lang="en-SG" dirty="0"/>
          </a:p>
          <a:p>
            <a:pPr marL="400050" lvl="1" indent="0">
              <a:buNone/>
            </a:pPr>
            <a:r>
              <a:rPr lang="en-SG" dirty="0" err="1"/>
              <a:t>LightGBM</a:t>
            </a:r>
            <a:r>
              <a:rPr lang="en-SG" dirty="0"/>
              <a:t> focuses more on this.</a:t>
            </a:r>
          </a:p>
          <a:p>
            <a:r>
              <a:rPr lang="en-SG" b="1" dirty="0"/>
              <a:t>Model 2 prediction:</a:t>
            </a:r>
          </a:p>
          <a:p>
            <a:pPr marL="400050" lvl="1" indent="0">
              <a:buNone/>
            </a:pPr>
            <a:r>
              <a:rPr lang="en-SG" dirty="0"/>
              <a:t>+40, +60, +45</a:t>
            </a:r>
          </a:p>
          <a:p>
            <a:r>
              <a:rPr lang="en-SG" b="1" dirty="0"/>
              <a:t>Updated prediction:</a:t>
            </a:r>
          </a:p>
          <a:p>
            <a:pPr marL="400050" lvl="1" indent="0">
              <a:buNone/>
            </a:pPr>
            <a:r>
              <a:rPr lang="en-SG" dirty="0"/>
              <a:t>490, 680, 645</a:t>
            </a:r>
          </a:p>
          <a:p>
            <a:pPr marL="400050" lvl="1" indent="0">
              <a:buNone/>
            </a:pPr>
            <a:r>
              <a:rPr lang="en-SG" dirty="0"/>
              <a:t>👉 Error reduces quickly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 of AdaBoost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4C375A-B733-5D44-E3AD-E84C1C55ED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350" y="1378406"/>
            <a:ext cx="5048241" cy="2499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fast compared to other boosting methods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with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less memory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performance with many features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Disadvantages of AdaBoost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5D976B-8620-A02E-7974-5D5F38F0B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7424" y="1860261"/>
            <a:ext cx="6306993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overfit if parameters are not tuned properly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parameter settings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ideal for very small datasets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complex than simple models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246</Words>
  <Application>Microsoft Office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LightGBM (Light Gradient Boosting Machine) – Regression</vt:lpstr>
      <vt:lpstr>How AdaBoost Works</vt:lpstr>
      <vt:lpstr>Example (Predicting Product Sales)</vt:lpstr>
      <vt:lpstr>Advantages of AdaBoost</vt:lpstr>
      <vt:lpstr>Disadvantages of AdaBoost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Shanti</cp:lastModifiedBy>
  <cp:revision>4</cp:revision>
  <dcterms:created xsi:type="dcterms:W3CDTF">2013-01-27T09:14:16Z</dcterms:created>
  <dcterms:modified xsi:type="dcterms:W3CDTF">2026-03-23T11:06:44Z</dcterms:modified>
  <cp:category/>
</cp:coreProperties>
</file>